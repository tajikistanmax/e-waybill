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6675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447"/>
                </a:solidFill>
              </a:defRPr>
            </a:pPr>
            <a:r>
              <a:t>ЭЛЕКТРОННЫЙ ПУТЕВОЙ ЛИСТ DTS</a:t>
            </a:r>
          </a:p>
          <a:p>
            <a:pPr>
              <a:defRPr sz="1800">
                <a:solidFill>
                  <a:srgbClr val="285CC4"/>
                </a:solidFill>
              </a:defRPr>
            </a:pPr>
            <a:r>
              <a:t>Демонстрационная презентация концепции платформы</a:t>
            </a:r>
          </a:p>
          <a:p>
            <a:pPr>
              <a:defRPr sz="1400">
                <a:solidFill>
                  <a:srgbClr val="5F5F5F"/>
                </a:solidFill>
              </a:defRPr>
            </a:pPr>
            <a:r>
              <a:t>Министерство транспорта Республики Таджикистан / DTS</a:t>
            </a:r>
          </a:p>
        </p:txBody>
      </p:sp>
      <p:pic>
        <p:nvPicPr>
          <p:cNvPr id="5" name="Picture 4" descr="главная_панель_администратора_систем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331063"/>
            <a:ext cx="4389120" cy="24701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23760" y="1325880"/>
            <a:ext cx="4389120" cy="448056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126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</a:defRPr>
            </a:pPr>
            <a:r>
              <a:t>Цель: показать структуру будущей платформы, роли и ключевые интерфейсы.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447"/>
                </a:solidFill>
              </a:defRPr>
            </a:pPr>
            <a:r>
              <a:t>1. Зачем нужна новая платформа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2194560" cy="36576"/>
          </a:xfrm>
          <a:prstGeom prst="rect">
            <a:avLst/>
          </a:prstGeom>
          <a:solidFill>
            <a:srgbClr val="28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t>Старая система путевого листа была неполной и допускала дублирование данных.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В новой архитектуре используется единая база DTS: компании, транспорт, водители и пользователи повторно не создаются.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Платформа должна обеспечивать полный жизненный цикл путевого листа: создание → проверки → активация → мониторинг → архив.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Система должна интегрироваться с DTS, GPS, Neru, отчётностью и уведомлениями.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120640" cy="3474720"/>
          </a:xfrm>
          <a:prstGeom prst="roundRect">
            <a:avLst/>
          </a:prstGeom>
          <a:solidFill>
            <a:srgbClr val="F8FAFD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20840" y="164592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2323"/>
                </a:solidFill>
              </a:defRPr>
            </a:pPr>
            <a:r>
              <a:t>DTS (единая база)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Компании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Транспорт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Водители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Пользователи</a:t>
            </a:r>
          </a:p>
          <a:p>
            <a:pPr>
              <a:defRPr sz="1600" b="1">
                <a:solidFill>
                  <a:srgbClr val="232323"/>
                </a:solidFill>
              </a:defRPr>
            </a:pPr>
            <a:r>
              <a:t>↓</a:t>
            </a:r>
          </a:p>
          <a:p>
            <a:pPr>
              <a:defRPr sz="1600" b="1">
                <a:solidFill>
                  <a:srgbClr val="232323"/>
                </a:solidFill>
              </a:defRPr>
            </a:pPr>
            <a:r>
              <a:t>Модуль «Электронный путевой лист»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Создание ПЛ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Медосмотр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Техосмотр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Активные ПЛ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GPS / Neru / Отчёты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4983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Принцип: один источник правды — DTS.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447"/>
                </a:solidFill>
              </a:defRPr>
            </a:pPr>
            <a:r>
              <a:t>2. Ключевые принципы платформы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2194560" cy="36576"/>
          </a:xfrm>
          <a:prstGeom prst="rect">
            <a:avLst/>
          </a:prstGeom>
          <a:solidFill>
            <a:srgbClr val="28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t>Единый SSO вход через DTS.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Отсутствие дублей компаний, ТС и водителей.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Ролевой доступ: администратор, диспетчер, медик, механик, водитель, инспектор.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Юридически значимый маршрут документа и полная история действий.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Быстрая проверка активного ПЛ для GPS и камер Neru.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Готовность к развитию: мобильные кабинеты, ЭЦП, e-CMR, e-Permit, BI.</a:t>
            </a:r>
          </a:p>
        </p:txBody>
      </p:sp>
      <p:pic>
        <p:nvPicPr>
          <p:cNvPr id="6" name="Picture 5" descr="01_vhod_v_sistemu_DTS_SSO.png"/>
          <p:cNvPicPr>
            <a:picLocks noChangeAspect="1"/>
          </p:cNvPicPr>
          <p:nvPr/>
        </p:nvPicPr>
        <p:blipFill>
          <a:blip r:embed="rId2"/>
          <a:srcRect l="14335"/>
          <a:stretch/>
        </p:blipFill>
        <p:spPr>
          <a:xfrm>
            <a:off x="6400800" y="1417320"/>
            <a:ext cx="5166360" cy="349429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234440"/>
            <a:ext cx="5120640" cy="420624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548640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Единая авторизация через DTS SSO.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447"/>
                </a:solidFill>
              </a:defRPr>
            </a:pPr>
            <a:r>
              <a:t>3. Основные роли пользователей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2194560" cy="36576"/>
          </a:xfrm>
          <a:prstGeom prst="rect">
            <a:avLst/>
          </a:prstGeom>
          <a:solidFill>
            <a:srgbClr val="28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20_polzovateli_roli_i_pra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54920"/>
            <a:ext cx="5303520" cy="442247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051560"/>
            <a:ext cx="5303520" cy="502920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Администратор — управляет системой, пользователями, ролями и настройками.</a:t>
            </a:r>
          </a:p>
          <a:p>
            <a:pPr>
              <a:defRPr sz="1700">
                <a:solidFill>
                  <a:srgbClr val="232323"/>
                </a:solidFill>
              </a:defRPr>
            </a:pPr>
            <a:r>
              <a:t>Диспетчер — создаёт путевые листы, отправляет на осмотры, завершает рейсы.</a:t>
            </a:r>
          </a:p>
          <a:p>
            <a:pPr>
              <a:defRPr sz="1700">
                <a:solidFill>
                  <a:srgbClr val="232323"/>
                </a:solidFill>
              </a:defRPr>
            </a:pPr>
            <a:r>
              <a:t>Медик — проводит предрейсовый медицинский осмотр водителя.</a:t>
            </a:r>
          </a:p>
          <a:p>
            <a:pPr>
              <a:defRPr sz="1700">
                <a:solidFill>
                  <a:srgbClr val="232323"/>
                </a:solidFill>
              </a:defRPr>
            </a:pPr>
            <a:r>
              <a:t>Механик — проводит технический осмотр транспортного средства.</a:t>
            </a:r>
          </a:p>
          <a:p>
            <a:pPr>
              <a:defRPr sz="1700">
                <a:solidFill>
                  <a:srgbClr val="232323"/>
                </a:solidFill>
              </a:defRPr>
            </a:pPr>
            <a:r>
              <a:t>Водитель — видит свои документы, рейсы, статусы и QR.</a:t>
            </a:r>
          </a:p>
          <a:p>
            <a:pPr>
              <a:defRPr sz="1700">
                <a:solidFill>
                  <a:srgbClr val="232323"/>
                </a:solidFill>
              </a:defRPr>
            </a:pPr>
            <a:r>
              <a:t>Инспектор — проверяет ПЛ по QR и госномеру, фиксирует нарушения.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447"/>
                </a:solidFill>
              </a:defRPr>
            </a:pPr>
            <a:r>
              <a:t>4. Архитектура решения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2194560" cy="36576"/>
          </a:xfrm>
          <a:prstGeom prst="rect">
            <a:avLst/>
          </a:prstGeom>
          <a:solidFill>
            <a:srgbClr val="28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103120" cy="548640"/>
          </a:xfrm>
          <a:prstGeom prst="roundRect">
            <a:avLst/>
          </a:prstGeom>
          <a:solidFill>
            <a:srgbClr val="28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Frontend / кабинеты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280160"/>
            <a:ext cx="1828800" cy="54864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API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280160"/>
            <a:ext cx="2103120" cy="548640"/>
          </a:xfrm>
          <a:prstGeom prst="roundRect">
            <a:avLst/>
          </a:prstGeom>
          <a:solidFill>
            <a:srgbClr val="28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DTS SSO / DTS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743200"/>
            <a:ext cx="1828800" cy="548640"/>
          </a:xfrm>
          <a:prstGeom prst="roundRect">
            <a:avLst/>
          </a:prstGeom>
          <a:solidFill>
            <a:srgbClr val="12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Waybill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743200"/>
            <a:ext cx="1828800" cy="548640"/>
          </a:xfrm>
          <a:prstGeom prst="roundRect">
            <a:avLst/>
          </a:prstGeom>
          <a:solidFill>
            <a:srgbClr val="12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Medical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2743200"/>
            <a:ext cx="1920240" cy="548640"/>
          </a:xfrm>
          <a:prstGeom prst="roundRect">
            <a:avLst/>
          </a:prstGeom>
          <a:solidFill>
            <a:srgbClr val="12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Technical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743200"/>
            <a:ext cx="2834640" cy="548640"/>
          </a:xfrm>
          <a:prstGeom prst="roundRect">
            <a:avLst/>
          </a:prstGeom>
          <a:solidFill>
            <a:srgbClr val="12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GPS / Neru /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4480560"/>
            <a:ext cx="4297680" cy="64008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PostgreSQL / Redis / Queue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697480" y="1554480"/>
            <a:ext cx="137160" cy="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663440" y="1554480"/>
            <a:ext cx="182880" cy="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840480" y="1828800"/>
            <a:ext cx="0" cy="73152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52160" y="1828800"/>
            <a:ext cx="0" cy="73152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11680" y="3291840"/>
            <a:ext cx="3108960" cy="118872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114800" y="3291840"/>
            <a:ext cx="1005840" cy="118872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120640" y="3291840"/>
            <a:ext cx="1097280" cy="118872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315200" y="3291840"/>
            <a:ext cx="1463040" cy="118872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58978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</a:defRPr>
            </a:pPr>
            <a:r>
              <a:t>Все справочники и основные сущности берутся из DTS; модуль ПЛ хранит только ссылки и свои операционные данные.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447"/>
                </a:solidFill>
              </a:defRPr>
            </a:pPr>
            <a:r>
              <a:t>5. Главный дашборд администратора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2194560" cy="36576"/>
          </a:xfrm>
          <a:prstGeom prst="rect">
            <a:avLst/>
          </a:prstGeom>
          <a:solidFill>
            <a:srgbClr val="28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главная_панель_администратора_систем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47644"/>
            <a:ext cx="7498079" cy="42199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005840"/>
            <a:ext cx="7498079" cy="530352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0" y="132588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2323"/>
                </a:solidFill>
              </a:defRPr>
            </a:pPr>
            <a:r>
              <a:t>Что видит администратор: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количество активных путевых листов;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ТС на линии и водители на линии;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нарушения, медосмотры, техосмотры;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быстрый переход к ключевым разделам.</a:t>
            </a:r>
          </a:p>
          <a:p>
            <a:pPr>
              <a:defRPr sz="1600" b="1">
                <a:solidFill>
                  <a:srgbClr val="232323"/>
                </a:solidFill>
              </a:defRPr>
            </a:pPr>
            <a:r>
              <a:t>Назначение: оперативное управление и контроль системы.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447"/>
                </a:solidFill>
              </a:defRPr>
            </a:pPr>
            <a:r>
              <a:t>6. Реестры путевых листов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2194560" cy="36576"/>
          </a:xfrm>
          <a:prstGeom prst="rect">
            <a:avLst/>
          </a:prstGeom>
          <a:solidFill>
            <a:srgbClr val="28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реестр_путевых_листов_в_систем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1590"/>
            <a:ext cx="5577840" cy="41833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097280"/>
            <a:ext cx="5577840" cy="457200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1_aktivnye_putevye_lis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70552"/>
            <a:ext cx="5394960" cy="44987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097280"/>
            <a:ext cx="5394960" cy="457200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Слева: общий реестр ПЛ. Справа: активные путевые листы.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447"/>
                </a:solidFill>
              </a:defRPr>
            </a:pPr>
            <a:r>
              <a:t>7. Как диспетчер создаёт путевой лист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2194560" cy="36576"/>
          </a:xfrm>
          <a:prstGeom prst="rect">
            <a:avLst/>
          </a:prstGeom>
          <a:solidFill>
            <a:srgbClr val="28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создание_путевого_листа_в_систем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658368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051560"/>
            <a:ext cx="6583680" cy="521208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123444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2323"/>
                </a:solidFill>
              </a:defRPr>
            </a:pPr>
            <a:r>
              <a:t>Шаги создания: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1. Выбор типа путевого листа.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2. Выбор транспорта из DTS.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3. Выбор водителя из DTS.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4. Заполнение маршрута и топлива.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5. Автоматические проверки документов и принадлежности.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6. Отправка на медосмотр и техосмотр.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447"/>
                </a:solidFill>
              </a:defRPr>
            </a:pPr>
            <a:r>
              <a:t>8. Личный кабинет медика и предрейсовый медосмотр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2194560" cy="36576"/>
          </a:xfrm>
          <a:prstGeom prst="rect">
            <a:avLst/>
          </a:prstGeom>
          <a:solidFill>
            <a:srgbClr val="28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медицинская_панель_управления_осмотрам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48640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097280"/>
            <a:ext cx="5486400" cy="438912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предрейсовый_медицинский_осмотр_в_приложении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68730"/>
            <a:ext cx="5394960" cy="40462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3640" y="1097280"/>
            <a:ext cx="5394960" cy="438912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Слева: очередь и список осмотров. Справа: форма проведения осмотра водителя.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447"/>
                </a:solidFill>
              </a:defRPr>
            </a:pPr>
            <a:r>
              <a:t>9. Личный кабинет механика и техосмотр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2194560" cy="36576"/>
          </a:xfrm>
          <a:prstGeom prst="rect">
            <a:avLst/>
          </a:prstGeom>
          <a:solidFill>
            <a:srgbClr val="28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кабинет_механика_панель_управлени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14450"/>
            <a:ext cx="5760720" cy="43205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051560"/>
            <a:ext cx="5760720" cy="484632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интерфейс_проверки_транспорта_онлайн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554480"/>
            <a:ext cx="5120640" cy="3840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051560"/>
            <a:ext cx="5120640" cy="484632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</a:defRPr>
            </a:pPr>
            <a:r>
              <a:t>Механик видит очередь ТС, чек-лист состояния и принимает решение о выпуске на линию.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447"/>
                </a:solidFill>
              </a:defRPr>
            </a:pPr>
            <a:r>
              <a:t>10. Кабинет водителя и кабинет диспетчера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2194560" cy="36576"/>
          </a:xfrm>
          <a:prstGeom prst="rect">
            <a:avLst/>
          </a:prstGeom>
          <a:solidFill>
            <a:srgbClr val="28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дашборд_личного_кабинета_водител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548640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051560"/>
            <a:ext cx="5486400" cy="475488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кабинет_диспетчера_интерфейс_админ_панели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23035"/>
            <a:ext cx="5349240" cy="40119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3640" y="1051560"/>
            <a:ext cx="5349240" cy="475488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</a:defRPr>
            </a:pPr>
            <a:r>
              <a:t>Водитель видит свои рейсы, статус и QR. Диспетчер управляет всеми рейсами компании.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447"/>
                </a:solidFill>
              </a:defRPr>
            </a:pPr>
            <a:r>
              <a:t>11. Проверка инспектором и работа с нарушениями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2194560" cy="36576"/>
          </a:xfrm>
          <a:prstGeom prst="rect">
            <a:avLst/>
          </a:prstGeom>
          <a:solidFill>
            <a:srgbClr val="28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2_proverka_QR_gosnomer_inspek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05" y="1051560"/>
            <a:ext cx="5482828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051560"/>
            <a:ext cx="5486400" cy="457200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3_narusheniy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14499"/>
            <a:ext cx="5349240" cy="444612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3640" y="1051560"/>
            <a:ext cx="5349240" cy="457200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7150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</a:defRPr>
            </a:pPr>
            <a:r>
              <a:t>Инспектор может проверить документ по QR или госномеру и при необходимости перейти к нарушениям.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447"/>
                </a:solidFill>
              </a:defRPr>
            </a:pPr>
            <a:r>
              <a:t>12. GPS-мониторинг и проверки Neru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2194560" cy="36576"/>
          </a:xfrm>
          <a:prstGeom prst="rect">
            <a:avLst/>
          </a:prstGeom>
          <a:solidFill>
            <a:srgbClr val="28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4_GPS_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65" y="1051560"/>
            <a:ext cx="5482828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051560"/>
            <a:ext cx="5532120" cy="457200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5_proverki_Ne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07257"/>
            <a:ext cx="5349240" cy="44606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3640" y="1051560"/>
            <a:ext cx="5349240" cy="457200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57150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</a:defRPr>
            </a:pPr>
            <a:r>
              <a:t>Система контролирует маршрут, местоположение и взаимодействует с камерами Neru для автоматических проверок.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447"/>
                </a:solidFill>
              </a:defRPr>
            </a:pPr>
            <a:r>
              <a:t>13. Отчёты, аналитика и справочные реестры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2194560" cy="36576"/>
          </a:xfrm>
          <a:prstGeom prst="rect">
            <a:avLst/>
          </a:prstGeom>
          <a:solidFill>
            <a:srgbClr val="28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6_otchety_i_analiti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87" y="1005840"/>
            <a:ext cx="2686585" cy="2240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" y="1005840"/>
            <a:ext cx="3657600" cy="224028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7_kompani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467" y="1005840"/>
            <a:ext cx="2686585" cy="2240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51960" y="1005840"/>
            <a:ext cx="3657600" cy="224028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8_transportnye_sredst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3571" y="1005840"/>
            <a:ext cx="2695336" cy="2240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92440" y="1005840"/>
            <a:ext cx="3657600" cy="224028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9_voditel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7227" y="3566160"/>
            <a:ext cx="2686585" cy="22402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331720" y="3566160"/>
            <a:ext cx="3657600" cy="224028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20_polzovateli_roli_i_prav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707" y="3566160"/>
            <a:ext cx="2686585" cy="22402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72200" y="3566160"/>
            <a:ext cx="3657600" cy="2240280"/>
          </a:xfrm>
          <a:prstGeom prst="round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</a:defRPr>
            </a:pPr>
            <a:r>
              <a:t>Отчётность, компании, транспорт, водители и управление ролями формируют единое управленческое пространство.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447"/>
                </a:solidFill>
              </a:defRPr>
            </a:pPr>
            <a:r>
              <a:t>14. Ожидаемый эффект от внедрения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49808"/>
            <a:ext cx="2194560" cy="36576"/>
          </a:xfrm>
          <a:prstGeom prst="rect">
            <a:avLst/>
          </a:prstGeom>
          <a:solidFill>
            <a:srgbClr val="28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6949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t>Полная цифровизация путевого листа и отказ от дублирующего ввода данных.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Единая государственная база в составе DTS.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Прозрачный выпуск ТС на линию: медицинский и технический контроль.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Онлайн-мониторинг рейсов, быстрые проверки QR и автоматический контроль через Neru.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Единая аналитика для Министерства транспорта и перевозчиков.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Готовность к дальнейшему развитию: мобильные кабинеты, ЭЦП, e-CMR, e-Permit, BI-панели.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1732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0" y="178308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2323"/>
                </a:solidFill>
              </a:defRPr>
            </a:pPr>
            <a:r>
              <a:t>Следующий шаг: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1. Утвердить финальное ТЗ.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2. Утвердить визуальную концепцию интерфейсов.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3. Подготовить roadmap разработки.</a:t>
            </a:r>
          </a:p>
          <a:p>
            <a:pPr lvl="1">
              <a:defRPr sz="1600">
                <a:solidFill>
                  <a:srgbClr val="232323"/>
                </a:solidFill>
              </a:defRPr>
            </a:pPr>
            <a:r>
              <a:t>4. Перейти к Figma и frontend/backend реализации.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72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5F5F"/>
                </a:solidFill>
              </a:defRPr>
            </a:pPr>
            <a:r>
              <a:t>Демонстрационная презентация завершена.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690</Words>
  <Application>Microsoft Office PowerPoint</Application>
  <PresentationFormat>Широкоэкранный</PresentationFormat>
  <Paragraphs>104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Сафарзода Манучеҳр</cp:lastModifiedBy>
  <cp:revision>2</cp:revision>
  <dcterms:created xsi:type="dcterms:W3CDTF">2013-01-27T09:14:16Z</dcterms:created>
  <dcterms:modified xsi:type="dcterms:W3CDTF">2026-06-24T10:07:50Z</dcterms:modified>
  <cp:category/>
</cp:coreProperties>
</file>